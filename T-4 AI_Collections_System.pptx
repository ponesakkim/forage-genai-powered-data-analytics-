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91D80A-5980-4A8C-B5CE-DA9CE3899414}" v="12" dt="2026-06-01T14:29:45.9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8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nesakki m" userId="a3c69a2d7a12201f" providerId="LiveId" clId="{0656AA86-D9F9-46A5-B011-586CEE12E199}"/>
    <pc:docChg chg="undo custSel delSld modSld">
      <pc:chgData name="ponesakki m" userId="a3c69a2d7a12201f" providerId="LiveId" clId="{0656AA86-D9F9-46A5-B011-586CEE12E199}" dt="2026-06-01T14:31:03.784" v="86" actId="404"/>
      <pc:docMkLst>
        <pc:docMk/>
      </pc:docMkLst>
      <pc:sldChg chg="modSp mod">
        <pc:chgData name="ponesakki m" userId="a3c69a2d7a12201f" providerId="LiveId" clId="{0656AA86-D9F9-46A5-B011-586CEE12E199}" dt="2026-06-01T14:21:06.312" v="22" actId="20577"/>
        <pc:sldMkLst>
          <pc:docMk/>
          <pc:sldMk cId="0" sldId="256"/>
        </pc:sldMkLst>
        <pc:spChg chg="mod">
          <ac:chgData name="ponesakki m" userId="a3c69a2d7a12201f" providerId="LiveId" clId="{0656AA86-D9F9-46A5-B011-586CEE12E199}" dt="2026-06-01T14:21:06.312" v="22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ponesakki m" userId="a3c69a2d7a12201f" providerId="LiveId" clId="{0656AA86-D9F9-46A5-B011-586CEE12E199}" dt="2026-06-01T14:21:22.102" v="24" actId="20577"/>
        <pc:sldMkLst>
          <pc:docMk/>
          <pc:sldMk cId="0" sldId="257"/>
        </pc:sldMkLst>
        <pc:spChg chg="mod">
          <ac:chgData name="ponesakki m" userId="a3c69a2d7a12201f" providerId="LiveId" clId="{0656AA86-D9F9-46A5-B011-586CEE12E199}" dt="2026-06-01T14:21:22.102" v="24" actId="20577"/>
          <ac:spMkLst>
            <pc:docMk/>
            <pc:sldMk cId="0" sldId="257"/>
            <ac:spMk id="31" creationId="{00000000-0000-0000-0000-000000000000}"/>
          </ac:spMkLst>
        </pc:spChg>
      </pc:sldChg>
      <pc:sldChg chg="modSp mod">
        <pc:chgData name="ponesakki m" userId="a3c69a2d7a12201f" providerId="LiveId" clId="{0656AA86-D9F9-46A5-B011-586CEE12E199}" dt="2026-06-01T14:23:33.297" v="32" actId="207"/>
        <pc:sldMkLst>
          <pc:docMk/>
          <pc:sldMk cId="0" sldId="259"/>
        </pc:sldMkLst>
        <pc:spChg chg="mod">
          <ac:chgData name="ponesakki m" userId="a3c69a2d7a12201f" providerId="LiveId" clId="{0656AA86-D9F9-46A5-B011-586CEE12E199}" dt="2026-06-01T14:23:33.297" v="32" actId="207"/>
          <ac:spMkLst>
            <pc:docMk/>
            <pc:sldMk cId="0" sldId="259"/>
            <ac:spMk id="25" creationId="{00000000-0000-0000-0000-000000000000}"/>
          </ac:spMkLst>
        </pc:spChg>
      </pc:sldChg>
      <pc:sldChg chg="modSp mod">
        <pc:chgData name="ponesakki m" userId="a3c69a2d7a12201f" providerId="LiveId" clId="{0656AA86-D9F9-46A5-B011-586CEE12E199}" dt="2026-06-01T14:29:15.790" v="69" actId="207"/>
        <pc:sldMkLst>
          <pc:docMk/>
          <pc:sldMk cId="0" sldId="260"/>
        </pc:sldMkLst>
        <pc:spChg chg="mod">
          <ac:chgData name="ponesakki m" userId="a3c69a2d7a12201f" providerId="LiveId" clId="{0656AA86-D9F9-46A5-B011-586CEE12E199}" dt="2026-06-01T14:29:15.790" v="69" actId="207"/>
          <ac:spMkLst>
            <pc:docMk/>
            <pc:sldMk cId="0" sldId="260"/>
            <ac:spMk id="18" creationId="{00000000-0000-0000-0000-000000000000}"/>
          </ac:spMkLst>
        </pc:spChg>
      </pc:sldChg>
      <pc:sldChg chg="modSp mod">
        <pc:chgData name="ponesakki m" userId="a3c69a2d7a12201f" providerId="LiveId" clId="{0656AA86-D9F9-46A5-B011-586CEE12E199}" dt="2026-06-01T14:31:03.784" v="86" actId="404"/>
        <pc:sldMkLst>
          <pc:docMk/>
          <pc:sldMk cId="0" sldId="261"/>
        </pc:sldMkLst>
        <pc:spChg chg="mod">
          <ac:chgData name="ponesakki m" userId="a3c69a2d7a12201f" providerId="LiveId" clId="{0656AA86-D9F9-46A5-B011-586CEE12E199}" dt="2026-06-01T14:24:21.808" v="42" actId="20577"/>
          <ac:spMkLst>
            <pc:docMk/>
            <pc:sldMk cId="0" sldId="261"/>
            <ac:spMk id="5" creationId="{00000000-0000-0000-0000-000000000000}"/>
          </ac:spMkLst>
        </pc:spChg>
        <pc:spChg chg="mod">
          <ac:chgData name="ponesakki m" userId="a3c69a2d7a12201f" providerId="LiveId" clId="{0656AA86-D9F9-46A5-B011-586CEE12E199}" dt="2026-06-01T14:25:16.225" v="45" actId="20577"/>
          <ac:spMkLst>
            <pc:docMk/>
            <pc:sldMk cId="0" sldId="261"/>
            <ac:spMk id="7" creationId="{00000000-0000-0000-0000-000000000000}"/>
          </ac:spMkLst>
        </pc:spChg>
        <pc:spChg chg="mod">
          <ac:chgData name="ponesakki m" userId="a3c69a2d7a12201f" providerId="LiveId" clId="{0656AA86-D9F9-46A5-B011-586CEE12E199}" dt="2026-06-01T14:31:03.784" v="86" actId="404"/>
          <ac:spMkLst>
            <pc:docMk/>
            <pc:sldMk cId="0" sldId="261"/>
            <ac:spMk id="8" creationId="{00000000-0000-0000-0000-000000000000}"/>
          </ac:spMkLst>
        </pc:spChg>
      </pc:sldChg>
      <pc:sldChg chg="del">
        <pc:chgData name="ponesakki m" userId="a3c69a2d7a12201f" providerId="LiveId" clId="{0656AA86-D9F9-46A5-B011-586CEE12E199}" dt="2026-06-01T14:20:34.779" v="0" actId="2696"/>
        <pc:sldMkLst>
          <pc:docMk/>
          <pc:sldMk cId="0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4647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1371600"/>
            <a:ext cx="5943600" cy="2286000"/>
          </a:xfrm>
          <a:prstGeom prst="rect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17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8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Collections System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2926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 &amp; Implementation Proposal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429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2286000"/>
            <a:ext cx="1828800" cy="1828800"/>
          </a:xfrm>
          <a:prstGeom prst="ellipse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3200400"/>
            <a:ext cx="1097280" cy="109728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System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customer data to smarter, adaptive collections decisions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965960" cy="3474720"/>
          </a:xfrm>
          <a:prstGeom prst="rect">
            <a:avLst/>
          </a:prstGeom>
          <a:solidFill>
            <a:srgbClr val="132F4C"/>
          </a:solidFill>
          <a:ln w="10160">
            <a:solidFill>
              <a:srgbClr val="028090"/>
            </a:solidFill>
            <a:prstDash val="solid"/>
          </a:ln>
          <a:effectLst>
            <a:outerShdw blurRad="762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196596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28016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30759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4048" y="173736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Inputs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84048" y="2240280"/>
            <a:ext cx="17465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 history, credit profile, demographics, behavioural signals, external bureau data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258568" y="2880360"/>
            <a:ext cx="16459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331720" y="1143000"/>
            <a:ext cx="1965960" cy="3474720"/>
          </a:xfrm>
          <a:prstGeom prst="rect">
            <a:avLst/>
          </a:prstGeom>
          <a:solidFill>
            <a:srgbClr val="132F4C"/>
          </a:solidFill>
          <a:ln w="10160">
            <a:solidFill>
              <a:srgbClr val="028090"/>
            </a:solidFill>
            <a:prstDash val="solid"/>
          </a:ln>
          <a:effectLst>
            <a:outerShdw blurRad="762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331720" y="1143000"/>
            <a:ext cx="196596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2441448" y="128016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1307592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41448" y="173736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Logic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441448" y="2240280"/>
            <a:ext cx="17465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risk scoring, segmentation engine, regulatory checks, propensity-to-pay models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315968" y="2880360"/>
            <a:ext cx="16459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389120" y="1143000"/>
            <a:ext cx="1965960" cy="3474720"/>
          </a:xfrm>
          <a:prstGeom prst="rect">
            <a:avLst/>
          </a:prstGeom>
          <a:solidFill>
            <a:srgbClr val="132F4C"/>
          </a:solidFill>
          <a:ln w="10160">
            <a:solidFill>
              <a:srgbClr val="028090"/>
            </a:solidFill>
            <a:prstDash val="solid"/>
          </a:ln>
          <a:effectLst>
            <a:outerShdw blurRad="762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389120" y="1143000"/>
            <a:ext cx="196596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6"/>
          <p:cNvSpPr/>
          <p:nvPr/>
        </p:nvSpPr>
        <p:spPr>
          <a:xfrm>
            <a:off x="4498848" y="128016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1307592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498848" y="173736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Actions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498848" y="2240280"/>
            <a:ext cx="17465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Personalised channel selection, timing, tone &amp; offer generation (SMS, email, call, portal)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373368" y="2880360"/>
            <a:ext cx="16459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446520" y="1143000"/>
            <a:ext cx="1965960" cy="3474720"/>
          </a:xfrm>
          <a:prstGeom prst="rect">
            <a:avLst/>
          </a:prstGeom>
          <a:solidFill>
            <a:srgbClr val="132F4C"/>
          </a:solidFill>
          <a:ln w="10160">
            <a:solidFill>
              <a:srgbClr val="028090"/>
            </a:solidFill>
            <a:prstDash val="solid"/>
          </a:ln>
          <a:effectLst>
            <a:outerShdw blurRad="762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46520" y="1143000"/>
            <a:ext cx="196596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Text 22"/>
          <p:cNvSpPr/>
          <p:nvPr/>
        </p:nvSpPr>
        <p:spPr>
          <a:xfrm>
            <a:off x="6556248" y="128016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0" y="1307592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556248" y="173736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Loop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556248" y="2240280"/>
            <a:ext cx="17465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 tracking feeds model retraining; A/B tests refine strategies continuously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stage feeds the next — creating a self-improving, closed-loop intelligence cycle.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Inputs &amp; Learning Loop Detail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4023360" cy="4023360"/>
          </a:xfrm>
          <a:prstGeom prst="rect">
            <a:avLst/>
          </a:prstGeom>
          <a:solidFill>
            <a:srgbClr val="132F4C"/>
          </a:solidFill>
          <a:ln w="63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822960"/>
            <a:ext cx="4023360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961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INPUTS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Risk Profile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 score, payment history, DPD buckets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9568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Behavioural Signals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854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 frequency, portal activity, complaint history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5420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Indicators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7706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Income, employment, outstanding obligations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1272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 Bureau Data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355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 bureau feeds, public records, fraud signals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7124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Channel Preferences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9410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Opt-in data, historical contact success rates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822960"/>
            <a:ext cx="4206240" cy="4023360"/>
          </a:xfrm>
          <a:prstGeom prst="rect">
            <a:avLst/>
          </a:prstGeom>
          <a:solidFill>
            <a:srgbClr val="132F4C"/>
          </a:solidFill>
          <a:ln w="63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822960"/>
            <a:ext cx="420624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8961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LOOP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1371600"/>
            <a:ext cx="256032" cy="237744"/>
          </a:xfrm>
          <a:prstGeom prst="rect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0" y="13716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Outcomes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16093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 received, broken arrangement, dispute, no contact — every result is logged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0600" y="1956816"/>
            <a:ext cx="256032" cy="237744"/>
          </a:xfrm>
          <a:prstGeom prst="rect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20640" y="195681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Models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0" y="2194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 data continuously re-trains risk and propensity models weekly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2542032"/>
            <a:ext cx="256032" cy="237744"/>
          </a:xfrm>
          <a:prstGeom prst="rect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0" y="25420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A/B Experimentation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20640" y="27797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messaging, timing, and offer types are tested against control groups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3127248"/>
            <a:ext cx="256032" cy="237744"/>
          </a:xfrm>
          <a:prstGeom prst="rect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0" y="31272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 Adjustment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20640" y="33649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Champion/challenger framework promotes winning strategies automatically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3712464"/>
            <a:ext cx="256032" cy="237744"/>
          </a:xfrm>
          <a:prstGeom prst="rect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20640" y="37124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 Review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20640" y="39502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drift and fairness metrics reviewed monthly by Risk &amp; Compliance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of Agentic AI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Balancing autonomous efficiency with essential human oversight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4663440" y="1051560"/>
            <a:ext cx="420624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6984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AUTONOMOUS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106984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👤  HUMAN OVERSIGHT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4023360" cy="576072"/>
          </a:xfrm>
          <a:prstGeom prst="rect">
            <a:avLst/>
          </a:prstGeom>
          <a:solidFill>
            <a:srgbClr val="132F4C"/>
          </a:solidFill>
          <a:ln w="381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093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Outreach Scheduling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selects optimal channel, time, and tone for each customer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176272"/>
            <a:ext cx="4023360" cy="576072"/>
          </a:xfrm>
          <a:prstGeom prst="rect">
            <a:avLst/>
          </a:prstGeom>
          <a:solidFill>
            <a:srgbClr val="0D2235"/>
          </a:solidFill>
          <a:ln w="381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311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Reminder &amp; Statement Dispatch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2450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SMS/email for early-stage delinquency (DPD 1–30)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798064"/>
            <a:ext cx="4023360" cy="576072"/>
          </a:xfrm>
          <a:prstGeom prst="rect">
            <a:avLst/>
          </a:prstGeom>
          <a:solidFill>
            <a:srgbClr val="132F4C"/>
          </a:solidFill>
          <a:ln w="381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529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 Plan Micro-Decisions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" y="3072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Offers within pre-approved parameters (e.g. 3–6 month arrangements)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4023360" cy="576072"/>
          </a:xfrm>
          <a:prstGeom prst="rect">
            <a:avLst/>
          </a:prstGeom>
          <a:solidFill>
            <a:srgbClr val="0D2235"/>
          </a:solidFill>
          <a:ln w="381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747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Segmentation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11480" y="36941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bucketing of accounts into treatment strategies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041648"/>
            <a:ext cx="4023360" cy="576072"/>
          </a:xfrm>
          <a:prstGeom prst="rect">
            <a:avLst/>
          </a:prstGeom>
          <a:solidFill>
            <a:srgbClr val="132F4C"/>
          </a:solidFill>
          <a:ln w="381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0965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 &amp; Dashboards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" y="4315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daily/weekly performance summaries for managers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1554480"/>
            <a:ext cx="4206240" cy="576072"/>
          </a:xfrm>
          <a:prstGeom prst="rect">
            <a:avLst/>
          </a:prstGeom>
          <a:solidFill>
            <a:srgbClr val="1E1208"/>
          </a:solidFill>
          <a:ln w="381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60934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High-Value Account Decisions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00600" y="1828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chemeClr val="bg1"/>
                </a:solidFill>
              </a:rPr>
              <a:t>Accounts above a predefined risk threshold require human review</a:t>
            </a:r>
          </a:p>
        </p:txBody>
      </p:sp>
      <p:sp>
        <p:nvSpPr>
          <p:cNvPr id="26" name="Shape 24"/>
          <p:cNvSpPr/>
          <p:nvPr/>
        </p:nvSpPr>
        <p:spPr>
          <a:xfrm>
            <a:off x="4663440" y="2176272"/>
            <a:ext cx="4206240" cy="576072"/>
          </a:xfrm>
          <a:prstGeom prst="rect">
            <a:avLst/>
          </a:prstGeom>
          <a:solidFill>
            <a:srgbClr val="160D04"/>
          </a:solidFill>
          <a:ln w="381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23113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Hardship &amp; Vulnerability Cases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00600" y="24505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Sensitive cases escalated to trained specialist agents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2798064"/>
            <a:ext cx="4206240" cy="576072"/>
          </a:xfrm>
          <a:prstGeom prst="rect">
            <a:avLst/>
          </a:prstGeom>
          <a:solidFill>
            <a:srgbClr val="1E1208"/>
          </a:solidFill>
          <a:ln w="381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85292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 Action Initiation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00600" y="30723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litigation, debt sale, or write-off without human approval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3419856"/>
            <a:ext cx="4206240" cy="576072"/>
          </a:xfrm>
          <a:prstGeom prst="rect">
            <a:avLst/>
          </a:prstGeom>
          <a:solidFill>
            <a:srgbClr val="160D04"/>
          </a:solidFill>
          <a:ln w="381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4747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Governance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00600" y="36941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fairness, drift, and compliance reviews by Risk team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63440" y="4041648"/>
            <a:ext cx="4206240" cy="576072"/>
          </a:xfrm>
          <a:prstGeom prst="rect">
            <a:avLst/>
          </a:prstGeom>
          <a:solidFill>
            <a:srgbClr val="1E1208"/>
          </a:solidFill>
          <a:ln w="381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409651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Complaints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00600" y="43159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formal disputes and complaints handled by human agents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Responsible AI Guardrails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Ethical, fair, and compliant by design — not as an afterthought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4114800" cy="1874520"/>
          </a:xfrm>
          <a:prstGeom prst="rect">
            <a:avLst/>
          </a:prstGeom>
          <a:solidFill>
            <a:srgbClr val="132F4C"/>
          </a:solidFill>
          <a:ln w="10160">
            <a:solidFill>
              <a:srgbClr val="028090"/>
            </a:solidFill>
            <a:prstDash val="solid"/>
          </a:ln>
          <a:effectLst>
            <a:outerShdw blurRad="762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24128"/>
            <a:ext cx="4114800" cy="54864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430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1155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Fairness &amp; Non-Discrimination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11480" y="1499616"/>
            <a:ext cx="38404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Protected attributes (race, gender, religion) excluded from all models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Disparate impact testing run quarterly across demographic cohorts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Adverse action notices automatically generated for declined arrangements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Independent bias audits conducted annually by third-party reviewers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46320" y="1024128"/>
            <a:ext cx="4114800" cy="1874520"/>
          </a:xfrm>
          <a:prstGeom prst="rect">
            <a:avLst/>
          </a:prstGeom>
          <a:solidFill>
            <a:srgbClr val="132F4C"/>
          </a:solidFill>
          <a:ln w="10160">
            <a:solidFill>
              <a:srgbClr val="00A896"/>
            </a:solidFill>
            <a:prstDash val="solid"/>
          </a:ln>
          <a:effectLst>
            <a:outerShdw blurRad="762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024128"/>
            <a:ext cx="4114800" cy="54864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1430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1155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Explainability &amp; Transparency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983480" y="1499616"/>
            <a:ext cx="38404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SHAP values generate plain-language reason codes for every decision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Customers can request a human review of any AI-driven outcome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logs retained for 7 years to support regulatory inquiries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model cards document intent, limitations, and known risks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74320" y="3099816"/>
            <a:ext cx="4114800" cy="1874520"/>
          </a:xfrm>
          <a:prstGeom prst="rect">
            <a:avLst/>
          </a:prstGeom>
          <a:solidFill>
            <a:srgbClr val="132F4C"/>
          </a:solidFill>
          <a:ln w="10160">
            <a:solidFill>
              <a:srgbClr val="F97316"/>
            </a:solidFill>
            <a:prstDash val="solid"/>
          </a:ln>
          <a:effectLst>
            <a:outerShdw blurRad="762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4320" y="3099816"/>
            <a:ext cx="411480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21868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1520" y="31912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Compliance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11480" y="3575304"/>
            <a:ext cx="38404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Hardcoded rules enforce </a:t>
            </a:r>
            <a:r>
              <a:rPr lang="en-US" sz="1000" dirty="0">
                <a:solidFill>
                  <a:schemeClr val="bg1"/>
                </a:solidFill>
              </a:rPr>
              <a:t>applicable financial regulations, privacy requirements, and consumer protection standards.</a:t>
            </a:r>
            <a:endParaRPr lang="en-US" sz="1000" dirty="0">
              <a:solidFill>
                <a:schemeClr val="bg1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Contact frequency and time-of-day restrictions cannot be overridden by AI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Vulnerability flags (hardship, mental health indicators) trigger mandatory human review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model changes require sign-off from Legal, Risk, and Compliance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846320" y="3099816"/>
            <a:ext cx="4114800" cy="1874520"/>
          </a:xfrm>
          <a:prstGeom prst="rect">
            <a:avLst/>
          </a:prstGeom>
          <a:solidFill>
            <a:srgbClr val="132F4C"/>
          </a:solidFill>
          <a:ln w="10160">
            <a:solidFill>
              <a:srgbClr val="02C39A"/>
            </a:solidFill>
            <a:prstDash val="solid"/>
          </a:ln>
          <a:effectLst>
            <a:outerShdw blurRad="762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3099816"/>
            <a:ext cx="4114800" cy="54864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21868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03520" y="31912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Security &amp; Privacy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983480" y="3575304"/>
            <a:ext cx="38404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minimisation: only necessary fields passed to scoring models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PII encrypted at rest and in transit; access logs audited weekly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Right-to-erasure requests processed within mandated timeframes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Penetration testing and model security reviews conducted bi-annually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Business Impact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Quantitative returns and qualitative transformation across the collections lifecycle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1097280"/>
          </a:xfrm>
          <a:prstGeom prst="rect">
            <a:avLst/>
          </a:prstGeom>
          <a:solidFill>
            <a:srgbClr val="028090">
              <a:alpha val="85000"/>
            </a:srgbClr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3327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10-15%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627632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Reduction 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Delinquency Rate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2011680" cy="1097280"/>
          </a:xfrm>
          <a:prstGeom prst="rect">
            <a:avLst/>
          </a:prstGeom>
          <a:solidFill>
            <a:srgbClr val="00A896">
              <a:alpha val="85000"/>
            </a:srgbClr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2468880" y="103327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IN" sz="2800" dirty="0">
                <a:solidFill>
                  <a:schemeClr val="bg1"/>
                </a:solidFill>
                <a:latin typeface="Georgia" panose="02040502050405020303" pitchFamily="18" charset="0"/>
              </a:rPr>
              <a:t>15–20%</a:t>
            </a:r>
          </a:p>
        </p:txBody>
      </p:sp>
      <p:sp>
        <p:nvSpPr>
          <p:cNvPr id="9" name="Text 7"/>
          <p:cNvSpPr/>
          <p:nvPr/>
        </p:nvSpPr>
        <p:spPr>
          <a:xfrm>
            <a:off x="2468880" y="1627632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Lower Cost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 Collection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2011680" cy="1097280"/>
          </a:xfrm>
          <a:prstGeom prst="rect">
            <a:avLst/>
          </a:prstGeom>
          <a:solidFill>
            <a:srgbClr val="028090">
              <a:alpha val="85000"/>
            </a:srgbClr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03327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63440" y="1627632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Faster Account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1005840"/>
            <a:ext cx="2011680" cy="1097280"/>
          </a:xfrm>
          <a:prstGeom prst="rect">
            <a:avLst/>
          </a:prstGeom>
          <a:solidFill>
            <a:srgbClr val="00A896">
              <a:alpha val="85000"/>
            </a:srgbClr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03327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858000" y="1627632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Improvement 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Right-Party Contact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240280"/>
            <a:ext cx="4114800" cy="2697480"/>
          </a:xfrm>
          <a:prstGeom prst="rect">
            <a:avLst/>
          </a:prstGeom>
          <a:solidFill>
            <a:srgbClr val="132F4C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240280"/>
            <a:ext cx="41148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331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BUSINESS KPIs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2715768"/>
            <a:ext cx="3840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Reduced delinquency roll rates (DPD 30→60→90)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Lower operational cost per $1 collected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Increased right-party contact (RPC) rates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Improved promise-to-pay (PTP) fulfillment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Higher recovery rates on charged-off accounts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Reduced regulatory breach incidents to near-zero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240280"/>
            <a:ext cx="4206240" cy="2697480"/>
          </a:xfrm>
          <a:prstGeom prst="rect">
            <a:avLst/>
          </a:prstGeom>
          <a:solidFill>
            <a:srgbClr val="1E1208"/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240280"/>
            <a:ext cx="42062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2331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🤝  CUSTOMER OUTCOMES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2715768"/>
            <a:ext cx="39319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Personalised, dignified customer experience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Faster resolution with less customer friction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Greater fairness across demographic groups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focus on high-complexity, high-empathy cases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Scalable system adapts to portfolio growth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Increased trust and brand reputation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696</Words>
  <Application>Microsoft Office PowerPoint</Application>
  <PresentationFormat>On-screen Show (16:9)</PresentationFormat>
  <Paragraphs>126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Collections System</dc:title>
  <dc:subject>PptxGenJS Presentation</dc:subject>
  <dc:creator>PptxGenJS</dc:creator>
  <cp:lastModifiedBy>ponesakki m</cp:lastModifiedBy>
  <cp:revision>1</cp:revision>
  <dcterms:created xsi:type="dcterms:W3CDTF">2026-06-01T14:13:30Z</dcterms:created>
  <dcterms:modified xsi:type="dcterms:W3CDTF">2026-06-01T14:31:04Z</dcterms:modified>
</cp:coreProperties>
</file>